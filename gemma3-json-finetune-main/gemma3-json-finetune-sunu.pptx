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Amaç: küçük, açık bir modeli (Gemma 3 4B) ücretsiz GPU'da eğitip 'her belgeyi tertemiz JSON'a çeviren' pratik bir araca dönüştürmek. Bu deck'teki her teknik iddia Kaggle T4'te gerçek çalıştırmayla doğrulandı; en çarpıcı sonuç: fine-tune sonrası geçerli-JSON oranı %0'dan %95'e çıktı.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değerli mühendislik dersi. 13 gerçek Kaggle T4 çalıştırmasıyla kanıtlandı: Gemma 4 E4B yüklemede bile OOM, E2B yükleniyor ama eğitilemiyor, Gemma 3 4B ise %0'dan %95'e eğitildi. Kök neden fiziksel: T4 bfloat16 desteklemez; Gemma 4 float16'da kararsız → float32 → belleğe sığmaz. Öğrenciye vurgu: 'en yeni' değil, 'donanımına uyan' modeli seç.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= her seferinde not bırakmak (unutulur). Fine-tune = formatı kas hafızasına yerleştirmek. Sağdaki kutu GERÇEK ham çıktı: giriş cümlesi + 'kırk' + tırnaksız tarih. Bizim ölçümümüzde ham modelin geçerli-JSON oranı %0 çıktı — 20 örneğin hiçbiri parse olmadı. İşte fine-tune'un çözdüğü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araç rakip değil, katman. Prompt = anlık talimat. RAG = dış BİLGİ ekler ama formatı öğretmez. Fine-tune = format/davranışı kalıcı işler. Bizim derdimiz bilgi değil, 'her seferinde aynı temiz JSON' → tam bir fine-tune problemi.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Base = ham tahminci; Instruct (-it) komut anlar — biz -it seçiyoruz. (2) 16-bit model ~8GB, 4-bit ~3GB → ücretsiz GPU'ya sığar. QLoRA = 4-bit taban + küçük eğitilebilir LoRA adaptörü (~%0.5 parametre). Analoji: kütüphaneyi baştan yazmak yerine kenara not kağıdı iliştirmek.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Analoji: donuk kütüphaneye not kağıdı iliştirmek. Sadece ~%0.5 parametre eğitilir. Gerçek ölçüm: yükleme 4.6GB, eğitim peak 5.9GB — T4'ün 14.5GB'ına çok rahat sığar, hatta seq uzunluğu artırılabilir.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dört adım hazırlık, son üç kritik: baseline ölç → eğit → aynı testte tekrar ölç. Adım 4'te gemma-3 chat template (Gemma 3 4B çok-kipli olduğu için içerik liste formatında verilir).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güçlü slayt. Bu rakamlar TEMSİLİ DEĞİL — Kaggle T4'te gerçek çalıştırmadan geldi. Baseline %0: ham model 20 örneğin hiçbirinde parse edilebilir JSON üretmedi (gevezelik + 512 token). Fine-tuned %95: 60 adımlık eğitimden sonra 19/20 temiz JSON. Ders: iyileşmeyi iddia etmedik, ölçtük.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Kurulum + model indirme birkaç dakika sürer (normal). En etkili sıra: baseline hücresini çalıştır (bozuk çıktı, %0), sonra eğitim + sonrası (%95). İki çıktıyı yan yana göster. Internet=On olmazsa model inmez — en sık hata.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kıymetli ödev 4. madde: KENDİ Türkçe verinizle aynı hattı çalıştırmak — gerçek dünyada asıl beceri. 2. madde değerlendirmeyi ciddileştirir (şema uygunluğu + F1). 5. madde ürünleştirme (GGUF + Ollama).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küçük açık model + 484 örnek + ücretsiz GPU ile üretime yakın araç. Üç kanıt: (1) ücretsiz T4'te eğitildi (5.9GB), (2) %0→%95 objektif iyileşme, (3) doğru model seçimi donanımla uyum meselesidir. Öğrenciyi kendi verisiyle denemeye yönlendir.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737360"/>
            <a:ext cx="5120640" cy="5120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834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0A896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ANTALYA  ·  LLM TABANLI UYGULAMA GELİŞTİRME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78308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3 (4B) Fine-Tuning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ile Metinden JSON'a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belgeyi, şemaya uyan geçerli JSON'a çeviren bir model eğitiyoruz.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 ·  QLoRA (4-bit)</a:t>
            </a:r>
            <a:pPr indent="0" marL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Kaggle / Colab ücretsiz T4 GPU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Gemma 3 4B? (Gemma 4 E4B neden değil)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uygulama önce Gemma 4 E4B ile denendi. Ücretsiz Kaggle T4'te gerçek çalıştırmalar: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385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4 E4B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938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Yüklemede OOM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40680" y="19385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float16 / QAT — hepsi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96265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4 E2B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96265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Eğitimde dtype hatası / OOM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296265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yükleniyor, ama fine-tune edilemiyor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0B2C2A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8678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3 4B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98678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Eğitildi: %0 → %95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398678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5.9 GB — bu notebook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1828800"/>
            <a:ext cx="3977640" cy="3072384"/>
          </a:xfrm>
          <a:prstGeom prst="roundRect">
            <a:avLst>
              <a:gd name="adj" fmla="val 2381"/>
            </a:avLst>
          </a:prstGeom>
          <a:solidFill>
            <a:srgbClr val="0F1B2D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NEDEN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63840" y="23774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(Turing)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bfloat16 desteklemez.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float16'da NaN üretir → float32 zorunlu → 8B model 14.5 GB'a sığmaz.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4B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float16'da stabil → ücretsiz T4'te sorunsuz eğitilir.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Ders: En yeni model her zaman en doğru seçim değildir — donanımınla modelin gereksinimi uyuşmalı. Gemma 4 için bf16'lı (Ampere+/L4/A100) ücretli GPU gerekir.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fine-tune? Prompt yetmiyor mu?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modele prompt ile JSON istediğinizde tipik üç sorun: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766560" cy="1207008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Gevezelik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"İşte JSON'unuz:" gibi giriş ekler; kod bloğu (```) sarar → json.loads() patlar.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766560" cy="1207008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4107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Şemadan sapma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7947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adını değiştirir, tip tutmaz, olmayan alan uydurur.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6766560" cy="1207008"/>
          </a:xfrm>
          <a:prstGeom prst="roundRect">
            <a:avLst>
              <a:gd name="adj" fmla="val 60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800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Tutarsızlık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518464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girdi, her çağrıda farklı biçim → otomasyona güvenilmez.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0F1B2D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MODEL ÇIKTISI (baseline %0)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24688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Tabii! İşte istediğiniz JSON: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```json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"ad": "Jane",
  "yas": "kırk",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"tarih": 2023-03-08
}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63840" y="5074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giriş cümlesi   ✗ tip hatası   ✗ tarih tırnaksız → parse edilemez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mı, RAG mı, Fine-tune mı?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araç, çözdüğünüz probleme bağlı. Bizim sorunumuz: format disiplini.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Hızlı, sıfır ek maliyet, anında dener.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Davranışı KALICI değiştiremez; her istekte tekrar tarif.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70832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99432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güncel / dış bilgi ekler.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FORMATINI ve tarzını öğretmez; sadece bağlam verir.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0B2C2A"/>
          </a:solidFill>
          <a:ln w="3175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01584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SEÇİMİMİZ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47304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3154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+ davranışı ağırlıklara KALICI işler.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75904" y="4389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3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+ kısa eğitim gerekir (ama QLoRA ile ucuz).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tutarlılığı = fine-tune probleminin ta kendisi.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temel kavram (30 saniyede)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Base mı, Instruct mı?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432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(temel): </a:t>
            </a:r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cümle tamamlayıcı. "Başkent?" → cevap vermez, cümleyi sürdürür.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0B2C2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133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(-it): </a:t>
            </a:r>
            <a:pPr indent="0" marL="0"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 anlar, cevap verir. BİZ BUNU seçiyoruz — sadece davranışı incelteceğiz.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B2C2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Quantization — niçin 4-bit?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belleğe sığdırmak için sayı hassasiyetini düşürürüz.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46520" y="3063240"/>
            <a:ext cx="4754880" cy="566928"/>
          </a:xfrm>
          <a:prstGeom prst="roundRect">
            <a:avLst>
              <a:gd name="adj" fmla="val 6452"/>
            </a:avLst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063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 ·  ~8 GB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794760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794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 ·  ~3 GB 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Doğrulukta ihmal edilebilir kayıp. QLoRA'nın tabanı budur — üstüne küçük 'not kağıdı' (LoRA) adaptörü eklenir.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QLoRA: 4B modeli tek T4'te eğitmek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28600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Gemma 3 4B — DONDURULMUŞ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nicelenmiş taban ağırlıklar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(eğitilmez, ~4.6 GB VRAM)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17320" y="4343400"/>
            <a:ext cx="868680" cy="566928"/>
          </a:xfrm>
          <a:prstGeom prst="roundRect">
            <a:avLst>
              <a:gd name="adj" fmla="val 8065"/>
            </a:avLst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2880360" y="4343400"/>
            <a:ext cx="868680" cy="566928"/>
          </a:xfrm>
          <a:prstGeom prst="roundRect">
            <a:avLst>
              <a:gd name="adj" fmla="val 8065"/>
            </a:avLst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4343400"/>
            <a:ext cx="868680" cy="566928"/>
          </a:xfrm>
          <a:prstGeom prst="roundRect">
            <a:avLst>
              <a:gd name="adj" fmla="val 8065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adaptörleri — EĞİTİLİR (küçük)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 donuk; sadece küçük adaptör matrisleri öğrenir.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019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GB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915400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yükleme VRAM (ölçüldü)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3163824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32841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 GB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15400" y="332841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EĞİTİM peak VRAM (14.5'e sığar)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4590288"/>
            <a:ext cx="5257800" cy="1261872"/>
          </a:xfrm>
          <a:prstGeom prst="roundRect">
            <a:avLst>
              <a:gd name="adj" fmla="val 5797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r=8 · α=8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915400" y="4754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kompakt adaptör; küçük veri için ideal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Adımda Uygulama Hattı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8096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unsloth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36392" y="17830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56432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33672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4-bit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75888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FastModel.from_pretrained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44184" y="17830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64224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41464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ekle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83680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get_peft_model, r=8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51976" y="17830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272016" y="1783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73184" y="19842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47318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49256" y="20025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+ şablon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91472" y="2569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gemma-3 chat template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12848" y="3721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2212848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788920" y="3739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ölç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231136" y="4306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 öncesi oran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99432" y="352044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919472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20640" y="3721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96712" y="3739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eğit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138928" y="4306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train_on_responses_only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07224" y="352044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827264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28432" y="37216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802843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604504" y="3739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 + kaydet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8046720" y="43068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önce/sonra + LoRA kaydı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5 ↔ 7: aynı testte önce ve sonra — bilimsel karşılaştırma.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Ölçtük — "iyi oldu" demedik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T4'te GERÇEK çalıştırma · metrik = geçerli-JSON oranı (json.loads) · ayrı test seti (20 örnek)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228600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13294B"/>
          </a:solidFill>
          <a:ln w="19050">
            <a:solidFill>
              <a:srgbClr val="F2A65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%0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118872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ÖNCESİ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40680" y="2286000"/>
            <a:ext cx="1280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766560" y="228600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0B2C2A"/>
          </a:solidFill>
          <a:ln w="3175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%95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676656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SONRASI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JSON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60 adımlık minik eğitim, ücretsiz T4, ~10 dk. Ham model hiç temiz JSON üretemezken, fine-tune sonrası 20 örneğin 19'u geçerli.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Canlı Demo — Kaggle'da beş tık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9842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Notebook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494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 → Create → Notebook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8986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Accelerator = GPU T4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163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panel → Session options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8130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813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7490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= 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782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veri indirilecek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7274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727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6634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926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hücreler sırayla akar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564184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641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55778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Sonucu gör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9070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%0 → sonrası %95 ekrana düşer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63840" y="182880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0B2C2A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924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İPUCU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2440" y="25146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baseline hücresini gösterin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model gevezelik / bozuk JSON üretir (%0).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eğitim + sonrası hücresi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aynı örneğin tertemiz JSON'a döndüğünü canlı gösterin (%95).
</a:t>
            </a:r>
            <a:pPr indent="0" marL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= ders.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 Sizde — Genişletme Ödevleri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eğitim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yerine num_train_epochs=2; oranı yeniden ölçün.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Şema doğrulama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0" y="23957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jsonschema.validate ile şemaya uygunluk + alan F1 ekleyin.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429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Hiperparametre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38130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ve α'yı 8→16→32 tarayıp etkisini gözlemleyin.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611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3429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veriniz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132320" y="38130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fatura / dilekçe → JSON veri setiyle aynı hattı çalıştırın.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846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Yerel dağıtım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08760" y="52303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GGUF'a çevirip Ollama ile mini bir çıkarım API'sine bağlayın.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6634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2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5029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4846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Karşılaştırma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132320" y="52303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görevi salt-prompt ile deneyip fine-tune ile kıyaslayın.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120640" cy="51206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3657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0A896">
                    <a:alpha val="2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model, doğru veriyle
</a:t>
            </a:r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büyük iş yapar.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ile Gemma 3 4B'yi ücretsiz T4'te fine-tune ettik (peak 5.9 GB)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Geçerli-JSON oranını %0'dan %95'e çıkardık — gerçek ölçüm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model seçimi: donanımına (T4) uyan Gemma 3 4B, en yeni değil
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 ·   Antalya LLM Tabanlı Uygulama Geliştirme Eğitimi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3 4B Fine-Tuning — Metinden JSON</dc:title>
  <dc:subject>PptxGenJS Presentation</dc:subject>
  <dc:creator>Dr. Murat Altun</dc:creator>
  <cp:lastModifiedBy>Dr. Murat Altun</cp:lastModifiedBy>
  <cp:revision>1</cp:revision>
  <dcterms:created xsi:type="dcterms:W3CDTF">2026-07-13T01:15:57Z</dcterms:created>
  <dcterms:modified xsi:type="dcterms:W3CDTF">2026-07-13T01:15:57Z</dcterms:modified>
</cp:coreProperties>
</file>